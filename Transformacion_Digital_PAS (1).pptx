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20"/>
    <p:sldId id="269" r:id="rId19"/>
    <p:sldId id="270" r:id="rId22"/>
    <p:sldId id="271" r:id="rId21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Tiempo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Tareas administrativas</c:v>
                </c:pt>
                <c:pt idx="1">
                  <c:v>Venta y asesoramiento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0"/>
      </c:doughnutChart>
      <c:spPr>
        <a:solidFill>
          <a:srgbClr val="13263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63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Facturación estimada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Mes 1</c:v>
                  </c:pt>
                  <c:pt idx="1">
                    <c:v>Mes 3</c:v>
                  </c:pt>
                  <c:pt idx="2">
                    <c:v>Mes 6</c:v>
                  </c:pt>
                  <c:pt idx="3">
                    <c:v>Mes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118</c:v>
                </c:pt>
                <c:pt idx="2">
                  <c:v>137</c:v>
                </c:pt>
                <c:pt idx="3">
                  <c:v>162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 a todos. Hoy vamos a analizar las opciones de software disponibles en el mercado argentino para optimizar la gestión de nuestra cartera, automatizar procesos y cumplir con las normativas vigentes.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productor actual gasta hasta un 70% de su tiempo en tareas administrativas y carga de datos. El objetivo de implementar un software es dar vuelta esa ecuación para enfocarnos en la 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Existen tres grandes familias de soluciones: sistemas especializados del ecosistema local, desarrollos a medida para organizaciones grandes, y CRMs genéricos adaptados a la venta de seguros.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plataformas están pensadas específicamente para el productor argentino: cotizan rápido, bajan pólizas automáticamente y cumplen con la normativa de la SSN.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toda herramienta, tienen contras: dependencia de la conexión con cada aseguradora, costos recurrentes, menor potencia de marketing y una curva de aprendizaje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CRMs genéricos son excelentes para marketing y seguimiento comercial, pero no resuelven ni la cotización con aseguradoras ni el cumplimiento normativo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Frente a las opciones del mercado, en Katrix venimos desarrollando JC Organizadores: una app propia pensada para que el PAS gestione su cartera, sus cobros y sus clientes desde el celular, con foco en seguridad y simpleza.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la relación con el cliente queda en un solo lugar: la ficha de cartera, el detalle con historial y siniestros, y la gestión de cobranzas priorizada por estado de deuda.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app también cuida la seguridad de la cuenta con biometría y doble factor, deja configurar qué alertas recibir, y permite personalizar la firma digital del productor para los documentos legales.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definitiva, JC Organizadores responde directamente a los tres dolores que planteamos al principio: menos carga administrativa, todo centralizado en un solo lugar, y cumplimiento de seguridad y normativa desde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software no es un gasto: reduce horas administrativas un 60%, mejora la retención de cartera con alertas de renovación, y garantiza cero multas frente a la SSN.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auditen su cartera, pidan demos de las principales opciones, y evalúen el presupuesto contra las horas que van a recuperar. El software no es un gasto, es la estructura para crecer. ¿Dudas o comentarios?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ESTRATÉGICO · MERCADO ARGENTINO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8961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 Digital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Productores de Seguros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Softwares de gestión y multicotizadores: comparativa de opciones para optimizar la operación del PAS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5422941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5440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Katrix — Soluciones tecnológicas para el sector asegurador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 operativo diario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685800" cy="685800"/>
          </a:xfrm>
          <a:prstGeom prst="ellipse">
            <a:avLst/>
          </a:prstGeom>
          <a:solidFill>
            <a:srgbClr val="13263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66" y="2036826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92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administrativa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2585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 de pólizas, endosos y siniestros con múltiples compañías.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319272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575304"/>
            <a:ext cx="685800" cy="685800"/>
          </a:xfrm>
          <a:prstGeom prst="ellipse">
            <a:avLst/>
          </a:prstGeom>
          <a:solidFill>
            <a:srgbClr val="13263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66" y="3664458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tiempo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8862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 5 o 6 portales de aseguradoras distintos para cotizar un mismo riesgo.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946904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5202936"/>
            <a:ext cx="685800" cy="685800"/>
          </a:xfrm>
          <a:prstGeom prst="ellipse">
            <a:avLst/>
          </a:prstGeom>
          <a:solidFill>
            <a:srgbClr val="13263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66" y="5292090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148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normativa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551383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Exigencia de la SSN con la Rúbrica Digital y libros obligatorios.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691640"/>
            <a:ext cx="4800600" cy="4709160"/>
          </a:xfrm>
          <a:prstGeom prst="roundRect">
            <a:avLst>
              <a:gd name="adj" fmla="val 1553"/>
            </a:avLst>
          </a:prstGeom>
          <a:solidFill>
            <a:srgbClr val="13263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0866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tiempo del PAS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086600" y="237744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 16"/>
          <p:cNvSpPr/>
          <p:nvPr/>
        </p:nvSpPr>
        <p:spPr>
          <a:xfrm>
            <a:off x="7086600" y="52578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del tiempo se pierde en carga de datos y administración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LOCAL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herramientas lideran el mercado?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13263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Ecosistema local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AdminSE · Nekül Soft · Insurhub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Conectados con aseguradoras locales (Fed. Patronal, Sancor, San Cristóbal, etc.).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9976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0016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0D948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1488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9976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54296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Desarrollos propios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54296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NexoSmart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45736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propios pensados para grandes organizaciones.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19872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39912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1B3A5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14884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19872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GENÉRICOS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394192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CRMs adaptados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394192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Bitrix24 · HubSpot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485632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gestión comercial pura y automatización de correos.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Soluciones especializadas (AdminSE, Nekül, Insurhub)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Multicotización en segundos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 en varias compañías en un solo clic vía Web Services.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170" y="21406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39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automática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pólizas, endosos y estados de deuda sin tipear nada.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51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433517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SSN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6908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directa de archivos XML listos para la Rúbrica Digital.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251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170" y="433517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 de comisiones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6908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exacto de lo que te debe cada compañía y lo que cobrás.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 a considerar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233" y="2110801"/>
            <a:ext cx="460126" cy="4601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tecnológica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Web Service de una aseguradora se cae, el cotizador falla.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2996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793" y="2110801"/>
            <a:ext cx="460126" cy="460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recurrentes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4688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Suelen cobrarse según el tamaño de la cartera o cantidad de usuarios.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7024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33" y="4351081"/>
            <a:ext cx="460126" cy="4601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en marketing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potentes para campañas publicitarias o embudos de venta que un CRM puro.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70248"/>
            <a:ext cx="621792" cy="621792"/>
          </a:xfrm>
          <a:prstGeom prst="ellipse">
            <a:avLst/>
          </a:prstGeom>
          <a:solidFill>
            <a:srgbClr val="F4E3E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793" y="4351081"/>
            <a:ext cx="460126" cy="4601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7091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toda la base de datos al inicio requiere tiempo y orden.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ALTERNATIVA GLOBAL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CRMs genéricos: HubSpot / Bitrix24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CFEAE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821" y="208538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8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absoluta en seguimiento de clientes y marketing automatizado.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8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comunicación interna si tenés un equipo grande de vendedores.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73736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6E4E1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2011680"/>
            <a:ext cx="566928" cy="566928"/>
          </a:xfrm>
          <a:prstGeom prst="ellipse">
            <a:avLst/>
          </a:prstGeom>
          <a:solidFill>
            <a:srgbClr val="C654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373" y="20853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19672" y="27432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cotizan: no se conectan con las aseguradoras argentinas para tirar un precio.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5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automatizan la Rúbrica Digital: el papeleo legal argentino se sigue haciendo a mano.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 Organizadores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propia de Katrix para que el PAS gestione su cartera, sus cobros y sus clientes desde el celular.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313456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consolidada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339242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administrado, distribución por ramos y por compañía en un solo dashboard.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418612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4114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Cobranzas proactivas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71600" y="444398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rechazados, deuda en efectivo y contacto directo por llamada o WhatsApp.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523768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5166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firma digital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549554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verificación en dos pasos y firma digital para validar pólizas.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18120" y="777240"/>
            <a:ext cx="3749040" cy="5486400"/>
          </a:xfrm>
          <a:prstGeom prst="roundRect">
            <a:avLst>
              <a:gd name="adj" fmla="val 292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20" name="Image 3" descr="/mnt/user-data/uploads/Dashboard_Detallado_-_Gestión_de_Cartera.png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46136" y="905256"/>
            <a:ext cx="3493008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 ORGANIZADORES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ciclo del cliente en un solo lugar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mnt/user-data/uploads/Main_Content_Canvas-1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728216"/>
            <a:ext cx="3264408" cy="3721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por nombre, DNI o póliza con filtros por ramo y estado de cada cliente.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79976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/mnt/user-data/uploads/Detalle_de_Cliente_-_Alejandro_Morales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7992" y="1728216"/>
            <a:ext cx="3264408" cy="3721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9976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Cliente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79976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 vigentes, historial de contacto y siniestros, con llamada o WhatsApp a un toque.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119872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/mnt/user-data/uploads/Cobranzas_-_Falta_de_Pago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1728216"/>
            <a:ext cx="3264408" cy="3721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19872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Cobranzas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19872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Morosidad, débitos rechazados y cobranza en efectivo, todo priorizado por caso.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 ORGANIZADORES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alertas y marca personal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/mnt/user-data/uploads/Configuración_de_Segurida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" y="1728216"/>
            <a:ext cx="3264408" cy="3721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verificación en dos pasos y control de sesiones activas por dispositivo.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79976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9" name="Image 1" descr="/mnt/user-data/uploads/Configuración_de_Notificaciones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7992" y="1728216"/>
            <a:ext cx="3264408" cy="3721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9976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79976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configurables por cartera, cobranzas y siniestros, push o por correo.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119872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/mnt/user-data/uploads/Configuración_de_Firma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1728216"/>
            <a:ext cx="3264408" cy="3721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19872" y="5687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19872" y="6016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personalizada del productor para validar documentos legales y pólizas.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DESARROLLAMOS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responde a los dolores del PAS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67128"/>
            <a:ext cx="640080" cy="640080"/>
          </a:xfrm>
          <a:prstGeom prst="ellipse">
            <a:avLst/>
          </a:prstGeom>
          <a:solidFill>
            <a:srgbClr val="2A4A6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250338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administrativa manual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23134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Shape 6"/>
          <p:cNvSpPr/>
          <p:nvPr/>
        </p:nvSpPr>
        <p:spPr>
          <a:xfrm>
            <a:off x="6080760" y="23134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309" y="2360981"/>
            <a:ext cx="270662" cy="270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203911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Pólizas, clientes y cobranzas centralizados en una sola app.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9184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</p:sp>
      <p:sp>
        <p:nvSpPr>
          <p:cNvPr id="13" name="Shape 9"/>
          <p:cNvSpPr/>
          <p:nvPr/>
        </p:nvSpPr>
        <p:spPr>
          <a:xfrm>
            <a:off x="896112" y="3584448"/>
            <a:ext cx="640080" cy="640080"/>
          </a:xfrm>
          <a:prstGeom prst="ellipse">
            <a:avLst/>
          </a:prstGeom>
          <a:solidFill>
            <a:srgbClr val="2A4A6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3667658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34564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tiempo entre portales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076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Shape 12"/>
          <p:cNvSpPr/>
          <p:nvPr/>
        </p:nvSpPr>
        <p:spPr>
          <a:xfrm>
            <a:off x="608076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09" y="3778301"/>
            <a:ext cx="270662" cy="2706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9400" y="345643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ciclo del cliente (llamar, WhatsApp, historial) a un toque.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70916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</p:sp>
      <p:sp>
        <p:nvSpPr>
          <p:cNvPr id="21" name="Shape 15"/>
          <p:cNvSpPr/>
          <p:nvPr/>
        </p:nvSpPr>
        <p:spPr>
          <a:xfrm>
            <a:off x="896112" y="5001768"/>
            <a:ext cx="640080" cy="640080"/>
          </a:xfrm>
          <a:prstGeom prst="ellipse">
            <a:avLst/>
          </a:prstGeom>
          <a:solidFill>
            <a:srgbClr val="2A4A6E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5084978"/>
            <a:ext cx="473659" cy="4736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8737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normativa y de seguridad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080760" y="51480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Shape 18"/>
          <p:cNvSpPr/>
          <p:nvPr/>
        </p:nvSpPr>
        <p:spPr>
          <a:xfrm>
            <a:off x="6080760" y="51480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309" y="5195621"/>
            <a:ext cx="270662" cy="2706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48737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digital, biometría y verificación en dos pasos integradas.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¿Vale la pena la inversión?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horas de carga administrativa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9976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296" y="1965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63" y="204322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Retención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4654296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renovación evitan la caída de pólizas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B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965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459" y="204322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Multas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8394192" y="32461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 absoluta ante inspecciones de la SSN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251960"/>
            <a:ext cx="1090879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proyectada al liberar tiempo comercial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914400" y="4754880"/>
          <a:ext cx="103327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para elegir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la cartera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clientes y cuántas compañías principales usás.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demos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89120" y="3035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accesos de prueba a AdminSE e Insurhub/Nekül para ver la interfaz.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5528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presupuesto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55280" y="3035808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costo mensual contra las horas de trabajo que vas a ahorrar.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343400"/>
            <a:ext cx="10515600" cy="1325880"/>
          </a:xfrm>
          <a:prstGeom prst="roundRect">
            <a:avLst>
              <a:gd name="adj" fmla="val 5517"/>
            </a:avLst>
          </a:prstGeom>
          <a:solidFill>
            <a:srgbClr val="1B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462686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4698187"/>
            <a:ext cx="405994" cy="40599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74520" y="448056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software no es un gasto, es la estructura que nos va a permitir duplicar la cartera sin colapsar en el intento.”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¿Dudas o comentarios?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es el problema de esas soluciones?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13263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gestión comercial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y seguimiento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clientes y oportunidades, pero no cotiza ni emite pólizas.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9976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0016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0D948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1488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9976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MULTICOTIZADOR Y EMISIÓN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54296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cotización y emisión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54296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45736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el precio y la póliza, pero no la relación con el cliente.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19872" y="169164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39912" y="2011680"/>
            <a:ext cx="2880360" cy="822960"/>
          </a:xfrm>
          <a:prstGeom prst="roundRect">
            <a:avLst>
              <a:gd name="adj" fmla="val 38889"/>
            </a:avLst>
          </a:prstGeom>
          <a:solidFill>
            <a:srgbClr val="1B3A5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14884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19872" y="3017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DOCUMENTAL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394192" y="3310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archivo y cumplimiento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394192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Digital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485632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archivos y XML, pero no conecta con ventas ni cobranzas.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ARGENTINO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¿Existen soluciones similares?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610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Polko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 a productores: cotización y emisión en varias compañías, con una propuesta tecnológica fuerte.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170" y="214061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391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Seguro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49631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y herramientas de gestión pensadas específicamente para el PAS.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51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433517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6908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 pensada para productores de seguros.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251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170" y="433517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33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de aseguradoras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6908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Mercantil Andina, Sancor, Federación Patronal y otras: resuelven, pero limitadas a sus propios productos.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barrera difícil de replicar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840" cy="4526280"/>
          </a:xfrm>
          <a:prstGeom prst="roundRect">
            <a:avLst>
              <a:gd name="adj" fmla="val 3721"/>
            </a:avLst>
          </a:prstGeom>
          <a:solidFill>
            <a:srgbClr val="13263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2402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560" y="2357120"/>
            <a:ext cx="497840" cy="497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240280"/>
            <a:ext cx="885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están gestionando las APIs de varias aseguradoras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3337560"/>
            <a:ext cx="981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7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el software lleva tiempo, pero conseguir convenios, acceso a APIs, homologaciones y mantener las integraciones también lleva mucho esfuerzo.</a:t>
            </a:r>
            <a:endParaRPr lang="en-US" sz="1500" i="1" dirty="0"/>
          </a:p>
        </p:txBody>
      </p:sp>
      <p:sp>
        <p:nvSpPr>
          <p:cNvPr id="9" name="Text 6"/>
          <p:cNvSpPr/>
          <p:nvPr/>
        </p:nvSpPr>
        <p:spPr>
          <a:xfrm>
            <a:off x="1188720" y="4572000"/>
            <a:ext cx="981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logran integrar varias compañías importantes, otros competidores no van a poder replicarlo de un día para el otro.</a:t>
            </a:r>
            <a:endParaRPr lang="en-US" sz="15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DIFERENCIAL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que un CRM: una plataforma de trabajo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solución resuelve una sola pieza. El PAS necesita todo el ciclo integrado en un solo lugar:</a:t>
            </a:r>
            <a:endParaRPr lang="en-US" sz="1300" dirty="0"/>
          </a:p>
        </p:txBody>
      </p:sp>
      <p:sp>
        <p:nvSpPr>
          <p:cNvPr id="30" name="ModuleCard0"/>
          <p:cNvSpPr/>
          <p:nvPr/>
        </p:nvSpPr>
        <p:spPr>
          <a:xfrm>
            <a:off x="640080" y="21945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31" name="ModuleDot0"/>
          <p:cNvSpPr/>
          <p:nvPr/>
        </p:nvSpPr>
        <p:spPr>
          <a:xfrm>
            <a:off x="914400" y="26898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ModuleLabel0"/>
          <p:cNvSpPr/>
          <p:nvPr/>
        </p:nvSpPr>
        <p:spPr>
          <a:xfrm>
            <a:off x="1280160" y="21945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3" name="ModuleCard1"/>
          <p:cNvSpPr/>
          <p:nvPr/>
        </p:nvSpPr>
        <p:spPr>
          <a:xfrm>
            <a:off x="3413760" y="21945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34" name="ModuleDot1"/>
          <p:cNvSpPr/>
          <p:nvPr/>
        </p:nvSpPr>
        <p:spPr>
          <a:xfrm>
            <a:off x="3688080" y="26898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ModuleLabel1"/>
          <p:cNvSpPr/>
          <p:nvPr/>
        </p:nvSpPr>
        <p:spPr>
          <a:xfrm>
            <a:off x="4053840" y="21945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36" name="ModuleCard2"/>
          <p:cNvSpPr/>
          <p:nvPr/>
        </p:nvSpPr>
        <p:spPr>
          <a:xfrm>
            <a:off x="6187440" y="21945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37" name="ModuleDot2"/>
          <p:cNvSpPr/>
          <p:nvPr/>
        </p:nvSpPr>
        <p:spPr>
          <a:xfrm>
            <a:off x="6461760" y="26898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ModuleLabel2"/>
          <p:cNvSpPr/>
          <p:nvPr/>
        </p:nvSpPr>
        <p:spPr>
          <a:xfrm>
            <a:off x="6827520" y="21945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</a:t>
            </a:r>
            <a:endParaRPr lang="en-US" sz="1300" dirty="0"/>
          </a:p>
        </p:txBody>
      </p:sp>
      <p:sp>
        <p:nvSpPr>
          <p:cNvPr id="39" name="ModuleCard3"/>
          <p:cNvSpPr/>
          <p:nvPr/>
        </p:nvSpPr>
        <p:spPr>
          <a:xfrm>
            <a:off x="8961120" y="21945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40" name="ModuleDot3"/>
          <p:cNvSpPr/>
          <p:nvPr/>
        </p:nvSpPr>
        <p:spPr>
          <a:xfrm>
            <a:off x="9235440" y="26898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ModuleLabel3"/>
          <p:cNvSpPr/>
          <p:nvPr/>
        </p:nvSpPr>
        <p:spPr>
          <a:xfrm>
            <a:off x="9601200" y="21945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</a:t>
            </a:r>
            <a:endParaRPr lang="en-US" sz="1300" dirty="0"/>
          </a:p>
        </p:txBody>
      </p:sp>
      <p:sp>
        <p:nvSpPr>
          <p:cNvPr id="42" name="ModuleCard4"/>
          <p:cNvSpPr/>
          <p:nvPr/>
        </p:nvSpPr>
        <p:spPr>
          <a:xfrm>
            <a:off x="640080" y="36423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43" name="ModuleDot4"/>
          <p:cNvSpPr/>
          <p:nvPr/>
        </p:nvSpPr>
        <p:spPr>
          <a:xfrm>
            <a:off x="914400" y="41376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ModuleLabel4"/>
          <p:cNvSpPr/>
          <p:nvPr/>
        </p:nvSpPr>
        <p:spPr>
          <a:xfrm>
            <a:off x="1280160" y="36423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Renovaciones</a:t>
            </a:r>
            <a:endParaRPr lang="en-US" sz="1300" dirty="0"/>
          </a:p>
        </p:txBody>
      </p:sp>
      <p:sp>
        <p:nvSpPr>
          <p:cNvPr id="45" name="ModuleCard5"/>
          <p:cNvSpPr/>
          <p:nvPr/>
        </p:nvSpPr>
        <p:spPr>
          <a:xfrm>
            <a:off x="3413760" y="36423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46" name="ModuleDot5"/>
          <p:cNvSpPr/>
          <p:nvPr/>
        </p:nvSpPr>
        <p:spPr>
          <a:xfrm>
            <a:off x="3688080" y="41376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7" name="ModuleLabel5"/>
          <p:cNvSpPr/>
          <p:nvPr/>
        </p:nvSpPr>
        <p:spPr>
          <a:xfrm>
            <a:off x="4053840" y="36423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</a:t>
            </a:r>
            <a:endParaRPr lang="en-US" sz="1300" dirty="0"/>
          </a:p>
        </p:txBody>
      </p:sp>
      <p:sp>
        <p:nvSpPr>
          <p:cNvPr id="48" name="ModuleCard6"/>
          <p:cNvSpPr/>
          <p:nvPr/>
        </p:nvSpPr>
        <p:spPr>
          <a:xfrm>
            <a:off x="6187440" y="36423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49" name="ModuleDot6"/>
          <p:cNvSpPr/>
          <p:nvPr/>
        </p:nvSpPr>
        <p:spPr>
          <a:xfrm>
            <a:off x="6461760" y="41376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0" name="ModuleLabel6"/>
          <p:cNvSpPr/>
          <p:nvPr/>
        </p:nvSpPr>
        <p:spPr>
          <a:xfrm>
            <a:off x="6827520" y="36423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300" dirty="0"/>
          </a:p>
        </p:txBody>
      </p:sp>
      <p:sp>
        <p:nvSpPr>
          <p:cNvPr id="51" name="ModuleCard7"/>
          <p:cNvSpPr/>
          <p:nvPr/>
        </p:nvSpPr>
        <p:spPr>
          <a:xfrm>
            <a:off x="8961120" y="36423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52" name="ModuleDot7"/>
          <p:cNvSpPr/>
          <p:nvPr/>
        </p:nvSpPr>
        <p:spPr>
          <a:xfrm>
            <a:off x="9235440" y="41376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3" name="ModuleLabel7"/>
          <p:cNvSpPr/>
          <p:nvPr/>
        </p:nvSpPr>
        <p:spPr>
          <a:xfrm>
            <a:off x="9601200" y="36423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54" name="ModuleCard8"/>
          <p:cNvSpPr/>
          <p:nvPr/>
        </p:nvSpPr>
        <p:spPr>
          <a:xfrm>
            <a:off x="640080" y="50901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55" name="ModuleDot8"/>
          <p:cNvSpPr/>
          <p:nvPr/>
        </p:nvSpPr>
        <p:spPr>
          <a:xfrm>
            <a:off x="914400" y="55854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6" name="ModuleLabel8"/>
          <p:cNvSpPr/>
          <p:nvPr/>
        </p:nvSpPr>
        <p:spPr>
          <a:xfrm>
            <a:off x="1280160" y="50901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300" dirty="0"/>
          </a:p>
        </p:txBody>
      </p:sp>
      <p:sp>
        <p:nvSpPr>
          <p:cNvPr id="57" name="ModuleCard9"/>
          <p:cNvSpPr/>
          <p:nvPr/>
        </p:nvSpPr>
        <p:spPr>
          <a:xfrm>
            <a:off x="3413760" y="50901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58" name="ModuleDot9"/>
          <p:cNvSpPr/>
          <p:nvPr/>
        </p:nvSpPr>
        <p:spPr>
          <a:xfrm>
            <a:off x="3688080" y="55854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9" name="ModuleLabel9"/>
          <p:cNvSpPr/>
          <p:nvPr/>
        </p:nvSpPr>
        <p:spPr>
          <a:xfrm>
            <a:off x="4053840" y="50901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de aseguradoras</a:t>
            </a:r>
            <a:endParaRPr lang="en-US" sz="1300" dirty="0"/>
          </a:p>
        </p:txBody>
      </p:sp>
      <p:sp>
        <p:nvSpPr>
          <p:cNvPr id="60" name="ModuleCard10"/>
          <p:cNvSpPr/>
          <p:nvPr/>
        </p:nvSpPr>
        <p:spPr>
          <a:xfrm>
            <a:off x="6187440" y="50901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61" name="ModuleDot10"/>
          <p:cNvSpPr/>
          <p:nvPr/>
        </p:nvSpPr>
        <p:spPr>
          <a:xfrm>
            <a:off x="6461760" y="55854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2" name="ModuleLabel10"/>
          <p:cNvSpPr/>
          <p:nvPr/>
        </p:nvSpPr>
        <p:spPr>
          <a:xfrm>
            <a:off x="6827520" y="50901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63" name="ModuleCard11"/>
          <p:cNvSpPr/>
          <p:nvPr/>
        </p:nvSpPr>
        <p:spPr>
          <a:xfrm>
            <a:off x="8961120" y="5090160"/>
            <a:ext cx="2590800" cy="1219200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/>
        </p:spPr>
      </p:sp>
      <p:sp>
        <p:nvSpPr>
          <p:cNvPr id="64" name="ModuleDot11"/>
          <p:cNvSpPr/>
          <p:nvPr/>
        </p:nvSpPr>
        <p:spPr>
          <a:xfrm>
            <a:off x="9235440" y="55854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5" name="ModuleLabel11"/>
          <p:cNvSpPr/>
          <p:nvPr/>
        </p:nvSpPr>
        <p:spPr>
          <a:xfrm>
            <a:off x="9601200" y="5090160"/>
            <a:ext cx="1813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Transformación Digital para Productores de Seguros</dc:title>
  <dc:subject>PptxGenJS Presentation</dc:subject>
  <dc:creator>Katrix</dc:creator>
  <cp:lastModifiedBy>Katrix</cp:lastModifiedBy>
  <cp:revision>1</cp:revision>
  <dcterms:created xsi:type="dcterms:W3CDTF">2026-07-02T01:17:20Z</dcterms:created>
  <dcterms:modified xsi:type="dcterms:W3CDTF">2026-07-02T01:17:20Z</dcterms:modified>
</cp:coreProperties>
</file>