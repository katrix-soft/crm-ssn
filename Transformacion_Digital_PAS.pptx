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2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Tiempo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E8A33D"/>
              </a:solidFill>
              <a:effectLst/>
            </c:spPr>
          </c:dPt>
          <c:dPt>
            <c:idx val="1"/>
            <c:bubble3D val="0"/>
            <c:spPr>
              <a:solidFill>
                <a:srgbClr val="0D9488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Tareas administrativas</c:v>
                </c:pt>
                <c:pt idx="1">
                  <c:v>Venta y asesoramiento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70</c:v>
                </c:pt>
                <c:pt idx="1">
                  <c:v>30</c:v>
                </c:pt>
              </c:numCache>
            </c:numRef>
          </c:val>
        </c:ser>
        <c:firstSliceAng val="0"/>
        <c:holeSize val="50"/>
      </c:doughnutChart>
      <c:spPr>
        <a:solidFill>
          <a:srgbClr val="13263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FFFFFF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13263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Facturación estimada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43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Mes 1</c:v>
                  </c:pt>
                  <c:pt idx="1">
                    <c:v>Mes 3</c:v>
                  </c:pt>
                  <c:pt idx="2">
                    <c:v>Mes 6</c:v>
                  </c:pt>
                  <c:pt idx="3">
                    <c:v>Mes 12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</c:v>
                </c:pt>
                <c:pt idx="1">
                  <c:v>118</c:v>
                </c:pt>
                <c:pt idx="2">
                  <c:v>137</c:v>
                </c:pt>
                <c:pt idx="3">
                  <c:v>162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B243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Buenas tardes a todos. Hoy vamos a analizar las opciones de software disponibles en el mercado argentino para optimizar la gestión de nuestra cartera, automatizar procesos y cumplir con las normativas vigentes.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productor actual gasta hasta un 70% de su tiempo en tareas administrativas y carga de datos. El objetivo de implementar un software es dar vuelta esa ecuación para enfocarnos en la venta.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Existen tres grandes familias de soluciones: sistemas especializados del ecosistema local, desarrollos a medida para organizaciones grandes, y CRMs genéricos adaptados a la venta de seguros.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Estas plataformas están pensadas específicamente para el productor argentino: cotizan rápido, bajan pólizas automáticamente y cumplen con la normativa de la SSN.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Como toda herramienta, tienen contras: dependencia de la conexión con cada aseguradora, costos recurrentes, menor potencia de marketing y una curva de aprendizaje inicial.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CRMs genéricos son excelentes para marketing y seguimiento comercial, pero no resuelven ni la cotización con aseguradoras ni el cumplimiento normativo local.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Frente a las opciones del mercado, en Katrix venimos desarrollando JC Organizadores: una app propia pensada para que el PAS gestione su cartera, sus cobros y sus clientes desde el celular, con foco en seguridad y simpleza.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Toda la relación con el cliente queda en un solo lugar: la ficha de cartera, el detalle con historial y siniestros, y la gestión de cobranzas priorizada por estado de deuda.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app también cuida la seguridad de la cuenta con biometría y doble factor, deja configurar qué alertas recibir, y permite personalizar la firma digital del productor para los documentos legales.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 definitiva, JC Organizadores responde directamente a los tres dolores que planteamos al principio: menos carga administrativa, todo centralizado en un solo lugar, y cumplimiento de seguridad y normativa desde el celular.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software no es un gasto: reduce horas administrativas un 60%, mejora la retención de cartera con alertas de renovación, y garantiza cero multas frente a la SSN.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 cerrar: auditen su cartera, pidan demos de las principales opciones, y evalúen el presupuesto contra las horas que van a recuperar. El software no es un gasto, es la estructura para crecer. ¿Dudas o comentarios?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1.xml"/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2.xml"/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645920"/>
            <a:ext cx="5486400" cy="5486400"/>
          </a:xfrm>
          <a:prstGeom prst="ellipse">
            <a:avLst/>
          </a:prstGeom>
          <a:solidFill>
            <a:srgbClr val="1B3A5C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4" name="Shape 2"/>
          <p:cNvSpPr/>
          <p:nvPr/>
        </p:nvSpPr>
        <p:spPr>
          <a:xfrm>
            <a:off x="-1645920" y="4754880"/>
            <a:ext cx="4206240" cy="4206240"/>
          </a:xfrm>
          <a:prstGeom prst="ellipse">
            <a:avLst/>
          </a:prstGeom>
          <a:solidFill>
            <a:srgbClr val="1B3A5C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65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ESTRATÉGICO · MERCADO ARGENTINO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2331720"/>
            <a:ext cx="89611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Transformación Digital</a:t>
            </a:r>
            <a:endParaRPr lang="en-US" sz="4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Productores de Seguros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822960" y="434340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7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Softwares de gestión y multicotizadores: comparativa de opciones para optimizar la operación del PAS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22960" y="5349240"/>
            <a:ext cx="566928" cy="566928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661" y="5422941"/>
            <a:ext cx="419527" cy="419527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508760" y="54406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Katrix — Soluciones tecnológicas para el sector asegurador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PANORAMA HOY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desafío operativo diario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6692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1947672"/>
            <a:ext cx="685800" cy="685800"/>
          </a:xfrm>
          <a:prstGeom prst="ellipse">
            <a:avLst/>
          </a:prstGeom>
          <a:solidFill>
            <a:srgbClr val="13263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5266" y="2036826"/>
            <a:ext cx="507492" cy="50749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189280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administrativa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783080" y="2258568"/>
            <a:ext cx="4343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manual de pólizas, endosos y siniestros con múltiples compañías.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40080" y="3319272"/>
            <a:ext cx="56692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96112" y="3575304"/>
            <a:ext cx="685800" cy="685800"/>
          </a:xfrm>
          <a:prstGeom prst="ellipse">
            <a:avLst/>
          </a:prstGeom>
          <a:solidFill>
            <a:srgbClr val="13263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5266" y="3664458"/>
            <a:ext cx="507492" cy="50749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783080" y="352044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Pérdida de tiempo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1783080" y="3886200"/>
            <a:ext cx="4343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Entrar a 5 o 6 portales de aseguradoras distintos para cotizar un mismo riesgo.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40080" y="4946904"/>
            <a:ext cx="56692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96112" y="5202936"/>
            <a:ext cx="685800" cy="685800"/>
          </a:xfrm>
          <a:prstGeom prst="ellipse">
            <a:avLst/>
          </a:prstGeom>
          <a:solidFill>
            <a:srgbClr val="13263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266" y="5292090"/>
            <a:ext cx="507492" cy="50749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83080" y="514807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Presión normativa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1783080" y="5513832"/>
            <a:ext cx="4343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Exigencia de la SSN con la Rúbrica Digital y libros obligatorios.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720840" y="1691640"/>
            <a:ext cx="4800600" cy="4709160"/>
          </a:xfrm>
          <a:prstGeom prst="roundRect">
            <a:avLst>
              <a:gd name="adj" fmla="val 1553"/>
            </a:avLst>
          </a:prstGeom>
          <a:solidFill>
            <a:srgbClr val="13263F"/>
          </a:solidFill>
          <a:ln/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20" name="Text 15"/>
          <p:cNvSpPr/>
          <p:nvPr/>
        </p:nvSpPr>
        <p:spPr>
          <a:xfrm>
            <a:off x="7086600" y="19202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Distribución del tiempo del PAS</a:t>
            </a:r>
            <a:endParaRPr lang="en-US" sz="140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7086600" y="2377440"/>
          <a:ext cx="411480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2" name="Text 16"/>
          <p:cNvSpPr/>
          <p:nvPr/>
        </p:nvSpPr>
        <p:spPr>
          <a:xfrm>
            <a:off x="7086600" y="5257800"/>
            <a:ext cx="4160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7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 del tiempo se pierde en carga de datos y administración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MAPEO LOCAL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herramientas lideran el mercado?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520440" cy="4480560"/>
          </a:xfrm>
          <a:prstGeom prst="roundRect">
            <a:avLst>
              <a:gd name="adj" fmla="val 23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011680"/>
            <a:ext cx="2880360" cy="822960"/>
          </a:xfrm>
          <a:prstGeom prst="roundRect">
            <a:avLst>
              <a:gd name="adj" fmla="val 38889"/>
            </a:avLst>
          </a:prstGeom>
          <a:solidFill>
            <a:srgbClr val="13263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25980" y="2148840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301752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13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ESPECIALIZADOS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914400" y="3310128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Ecosistema local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914400" y="379476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3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AdminSE · Nekül Soft · Insurhub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1005840" y="4434840"/>
            <a:ext cx="27889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Conectados con aseguradoras locales (Fed. Patronal, Sancor, San Cristóbal, etc.).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379976" y="1691640"/>
            <a:ext cx="3520440" cy="4480560"/>
          </a:xfrm>
          <a:prstGeom prst="roundRect">
            <a:avLst>
              <a:gd name="adj" fmla="val 23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700016" y="2011680"/>
            <a:ext cx="2880360" cy="822960"/>
          </a:xfrm>
          <a:prstGeom prst="roundRect">
            <a:avLst>
              <a:gd name="adj" fmla="val 38889"/>
            </a:avLst>
          </a:prstGeom>
          <a:solidFill>
            <a:srgbClr val="0D9488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5876" y="2148840"/>
            <a:ext cx="548640" cy="5486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379976" y="301752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MEDIDA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4654296" y="3310128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Desarrollos propios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4654296" y="379476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NexoSmart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4745736" y="4434840"/>
            <a:ext cx="27889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Portales propios pensados para grandes organizaciones.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8119872" y="1691640"/>
            <a:ext cx="3520440" cy="4480560"/>
          </a:xfrm>
          <a:prstGeom prst="roundRect">
            <a:avLst>
              <a:gd name="adj" fmla="val 23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439912" y="2011680"/>
            <a:ext cx="2880360" cy="822960"/>
          </a:xfrm>
          <a:prstGeom prst="roundRect">
            <a:avLst>
              <a:gd name="adj" fmla="val 38889"/>
            </a:avLst>
          </a:prstGeom>
          <a:solidFill>
            <a:srgbClr val="1B3A5C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5772" y="2148840"/>
            <a:ext cx="548640" cy="54864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119872" y="301752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GENÉRICOS</a:t>
            </a:r>
            <a:endParaRPr lang="en-US" sz="1050" dirty="0"/>
          </a:p>
        </p:txBody>
      </p:sp>
      <p:sp>
        <p:nvSpPr>
          <p:cNvPr id="22" name="Text 17"/>
          <p:cNvSpPr/>
          <p:nvPr/>
        </p:nvSpPr>
        <p:spPr>
          <a:xfrm>
            <a:off x="8394192" y="3310128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CRMs adaptados</a:t>
            </a:r>
            <a:endParaRPr lang="en-US" sz="1800" dirty="0"/>
          </a:p>
        </p:txBody>
      </p:sp>
      <p:sp>
        <p:nvSpPr>
          <p:cNvPr id="23" name="Text 18"/>
          <p:cNvSpPr/>
          <p:nvPr/>
        </p:nvSpPr>
        <p:spPr>
          <a:xfrm>
            <a:off x="8394192" y="379476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Bitrix24 · HubSpot</a:t>
            </a:r>
            <a:endParaRPr lang="en-US" sz="1250" dirty="0"/>
          </a:p>
        </p:txBody>
      </p:sp>
      <p:sp>
        <p:nvSpPr>
          <p:cNvPr id="24" name="Text 19"/>
          <p:cNvSpPr/>
          <p:nvPr/>
        </p:nvSpPr>
        <p:spPr>
          <a:xfrm>
            <a:off x="8485632" y="4434840"/>
            <a:ext cx="27889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Foco en gestión comercial pura y automatización de correos.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32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VENTAJAS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Soluciones especializadas (AdminSE, Nekül, Insurhub)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1B3A5C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057400"/>
            <a:ext cx="640080" cy="64008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7610" y="2140610"/>
            <a:ext cx="473659" cy="47365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2039112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Multicotización en segundos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1737360" y="2496312"/>
            <a:ext cx="3977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7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Cotiza en varias compañías en un solo clic vía Web Services.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263640" y="178308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1B3A5C"/>
          </a:solidFill>
          <a:ln/>
        </p:spPr>
      </p:sp>
      <p:sp>
        <p:nvSpPr>
          <p:cNvPr id="10" name="Shape 7"/>
          <p:cNvSpPr/>
          <p:nvPr/>
        </p:nvSpPr>
        <p:spPr>
          <a:xfrm>
            <a:off x="6537960" y="2057400"/>
            <a:ext cx="640080" cy="64008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1170" y="2140610"/>
            <a:ext cx="473659" cy="47365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60920" y="2039112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Descarga automática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7360920" y="2496312"/>
            <a:ext cx="3977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7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Sincroniza pólizas, endosos y estados de deuda sin tipear nada.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40080" y="397764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1B3A5C"/>
          </a:solidFill>
          <a:ln/>
        </p:spPr>
      </p:sp>
      <p:sp>
        <p:nvSpPr>
          <p:cNvPr id="15" name="Shape 11"/>
          <p:cNvSpPr/>
          <p:nvPr/>
        </p:nvSpPr>
        <p:spPr>
          <a:xfrm>
            <a:off x="914400" y="4251960"/>
            <a:ext cx="640080" cy="64008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7610" y="4335170"/>
            <a:ext cx="473659" cy="47365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37360" y="4233672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Cumplimiento SSN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1737360" y="4690872"/>
            <a:ext cx="3977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7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Exportación directa de archivos XML listos para la Rúbrica Digital.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263640" y="397764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1B3A5C"/>
          </a:solidFill>
          <a:ln/>
        </p:spPr>
      </p:sp>
      <p:sp>
        <p:nvSpPr>
          <p:cNvPr id="20" name="Shape 15"/>
          <p:cNvSpPr/>
          <p:nvPr/>
        </p:nvSpPr>
        <p:spPr>
          <a:xfrm>
            <a:off x="6537960" y="4251960"/>
            <a:ext cx="640080" cy="64008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1170" y="4335170"/>
            <a:ext cx="473659" cy="473659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60920" y="4233672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Liquidación de comisiones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7360920" y="4690872"/>
            <a:ext cx="3977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7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exacto de lo que te debe cada compañía y lo que cobrás.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65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DESAFÍOS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Desventajas a considerar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34924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029968"/>
            <a:ext cx="621792" cy="621792"/>
          </a:xfrm>
          <a:prstGeom prst="ellipse">
            <a:avLst/>
          </a:prstGeom>
          <a:solidFill>
            <a:srgbClr val="F4E3E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5233" y="2110801"/>
            <a:ext cx="460126" cy="46012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201168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Dependencia tecnológica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1737360" y="2468880"/>
            <a:ext cx="3977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el Web Service de una aseguradora se cae, el cotizador falla.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263640" y="1737360"/>
            <a:ext cx="534924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37960" y="2029968"/>
            <a:ext cx="621792" cy="621792"/>
          </a:xfrm>
          <a:prstGeom prst="ellipse">
            <a:avLst/>
          </a:prstGeom>
          <a:solidFill>
            <a:srgbClr val="F4E3E1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8793" y="2110801"/>
            <a:ext cx="460126" cy="46012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60920" y="201168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Costos recurrentes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7360920" y="2468880"/>
            <a:ext cx="3977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Suelen cobrarse según el tamaño de la cartera o cantidad de usuarios.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40080" y="3977640"/>
            <a:ext cx="534924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4270248"/>
            <a:ext cx="621792" cy="621792"/>
          </a:xfrm>
          <a:prstGeom prst="ellipse">
            <a:avLst/>
          </a:prstGeom>
          <a:solidFill>
            <a:srgbClr val="F4E3E1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5233" y="4351081"/>
            <a:ext cx="460126" cy="46012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37360" y="425196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Rigidez en marketing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1737360" y="4709160"/>
            <a:ext cx="3977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potentes para campañas publicitarias o embudos de venta que un CRM puro.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263640" y="3977640"/>
            <a:ext cx="534924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537960" y="4270248"/>
            <a:ext cx="621792" cy="621792"/>
          </a:xfrm>
          <a:prstGeom prst="ellipse">
            <a:avLst/>
          </a:prstGeom>
          <a:solidFill>
            <a:srgbClr val="F4E3E1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8793" y="4351081"/>
            <a:ext cx="460126" cy="46012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60920" y="425196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Curva de aprendizaje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7360920" y="4709160"/>
            <a:ext cx="3977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Migrar toda la base de datos al inicio requiere tiempo y orden.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ALTERNATIVA GLOBAL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CRMs genéricos: HubSpot / Bitrix24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349240" cy="4480560"/>
          </a:xfrm>
          <a:prstGeom prst="roundRect">
            <a:avLst>
              <a:gd name="adj" fmla="val 1837"/>
            </a:avLst>
          </a:prstGeom>
          <a:solidFill>
            <a:srgbClr val="CFEAE6"/>
          </a:solidFill>
          <a:ln/>
        </p:spPr>
      </p:sp>
      <p:sp>
        <p:nvSpPr>
          <p:cNvPr id="5" name="Shape 3"/>
          <p:cNvSpPr/>
          <p:nvPr/>
        </p:nvSpPr>
        <p:spPr>
          <a:xfrm>
            <a:off x="960120" y="2011680"/>
            <a:ext cx="566928" cy="566928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821" y="2085381"/>
            <a:ext cx="419527" cy="41952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208483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5E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Ventajas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960120" y="2743200"/>
            <a:ext cx="47091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84C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Potencia absoluta en seguimiento de clientes y marketing automatizado.</a:t>
            </a:r>
            <a:endParaRPr lang="en-US" sz="13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350" dirty="0">
                <a:solidFill>
                  <a:srgbClr val="184C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Excelente comunicación interna si tenés un equipo grande de vendedores.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199632" y="1737360"/>
            <a:ext cx="5349240" cy="4480560"/>
          </a:xfrm>
          <a:prstGeom prst="roundRect">
            <a:avLst>
              <a:gd name="adj" fmla="val 1837"/>
            </a:avLst>
          </a:prstGeom>
          <a:solidFill>
            <a:srgbClr val="F6E4E1"/>
          </a:solidFill>
          <a:ln/>
        </p:spPr>
      </p:sp>
      <p:sp>
        <p:nvSpPr>
          <p:cNvPr id="10" name="Shape 7"/>
          <p:cNvSpPr/>
          <p:nvPr/>
        </p:nvSpPr>
        <p:spPr>
          <a:xfrm>
            <a:off x="6519672" y="2011680"/>
            <a:ext cx="566928" cy="566928"/>
          </a:xfrm>
          <a:prstGeom prst="ellipse">
            <a:avLst/>
          </a:prstGeom>
          <a:solidFill>
            <a:srgbClr val="C6544A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3373" y="2085381"/>
            <a:ext cx="419527" cy="41952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51192" y="208483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7A2E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Desventajas</a:t>
            </a:r>
            <a:endParaRPr lang="en-US" sz="1900" dirty="0"/>
          </a:p>
        </p:txBody>
      </p:sp>
      <p:sp>
        <p:nvSpPr>
          <p:cNvPr id="13" name="Text 9"/>
          <p:cNvSpPr/>
          <p:nvPr/>
        </p:nvSpPr>
        <p:spPr>
          <a:xfrm>
            <a:off x="6519672" y="2743200"/>
            <a:ext cx="47091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5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cotizan: no se conectan con las aseguradoras argentinas para tirar un precio.</a:t>
            </a:r>
            <a:endParaRPr lang="en-US" sz="13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350" dirty="0">
                <a:solidFill>
                  <a:srgbClr val="5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automatizan la Rúbrica Digital: el papeleo legal argentino se sigue haciendo a mano.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32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-2194560"/>
            <a:ext cx="5943600" cy="5943600"/>
          </a:xfrm>
          <a:prstGeom prst="ellipse">
            <a:avLst/>
          </a:prstGeom>
          <a:solidFill>
            <a:srgbClr val="1B3A5C"/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5120640"/>
            <a:ext cx="3291840" cy="329184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86868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8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NUESTRA PROPUESTA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JC Organizadores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640080" y="2057400"/>
            <a:ext cx="6126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C7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app propia de Katrix para que el PAS gestione su cartera, sus cobros y sus clientes desde el celular.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" y="3063240"/>
            <a:ext cx="548640" cy="548640"/>
          </a:xfrm>
          <a:prstGeom prst="ellipse">
            <a:avLst/>
          </a:prstGeom>
          <a:solidFill>
            <a:srgbClr val="1B3A5C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1403" y="3134563"/>
            <a:ext cx="405994" cy="40599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71600" y="306324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Cartera consolidada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371600" y="3392424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A9B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Premio administrado, distribución por ramos y por compañía en un solo dashboard.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40080" y="4114800"/>
            <a:ext cx="548640" cy="548640"/>
          </a:xfrm>
          <a:prstGeom prst="ellipse">
            <a:avLst/>
          </a:prstGeom>
          <a:solidFill>
            <a:srgbClr val="1B3A5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403" y="4186123"/>
            <a:ext cx="405994" cy="40599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371600" y="411480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Cobranzas proactivas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1371600" y="4443984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A9B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Pagos rechazados, deuda en efectivo y contacto directo por llamada o WhatsApp.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40080" y="5166360"/>
            <a:ext cx="548640" cy="548640"/>
          </a:xfrm>
          <a:prstGeom prst="ellipse">
            <a:avLst/>
          </a:prstGeom>
          <a:solidFill>
            <a:srgbClr val="1B3A5C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403" y="5237683"/>
            <a:ext cx="405994" cy="40599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371600" y="516636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y firma digital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1371600" y="5495544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A9B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Biometría, verificación en dos pasos y firma digital para validar pólizas.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7818120" y="777240"/>
            <a:ext cx="3749040" cy="5486400"/>
          </a:xfrm>
          <a:prstGeom prst="roundRect">
            <a:avLst>
              <a:gd name="adj" fmla="val 2927"/>
            </a:avLst>
          </a:prstGeom>
          <a:solidFill>
            <a:srgbClr val="F7F8FA"/>
          </a:solidFill>
          <a:ln/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pic>
        <p:nvPicPr>
          <p:cNvPr id="20" name="Image 3" descr="/mnt/user-data/uploads/Dashboard_Detallado_-_Gestión_de_Cartera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7946136" y="905256"/>
            <a:ext cx="3493008" cy="523036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JC ORGANIZADORES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Todo el ciclo del cliente en un solo lugar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3520440" cy="397764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pic>
        <p:nvPicPr>
          <p:cNvPr id="5" name="Image 0" descr="/mnt/user-data/uploads/Main_Content_Canvas-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68096" y="1728216"/>
            <a:ext cx="3264408" cy="37216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5687568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Clientes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40080" y="6016752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Buscador por nombre, DNI o póliza con filtros por ramo y estado de cada cliente.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379976" y="1600200"/>
            <a:ext cx="3520440" cy="397764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pic>
        <p:nvPicPr>
          <p:cNvPr id="9" name="Image 1" descr="/mnt/user-data/uploads/Detalle_de_Cliente_-_Alejandro_Morales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507992" y="1728216"/>
            <a:ext cx="3264408" cy="372160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379976" y="5687568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Detalle de Cliente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4379976" y="6016752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Pólizas vigentes, historial de contacto y siniestros, con llamada o WhatsApp a un toque.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8119872" y="1600200"/>
            <a:ext cx="3520440" cy="397764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pic>
        <p:nvPicPr>
          <p:cNvPr id="13" name="Image 2" descr="/mnt/user-data/uploads/Cobranzas_-_Falta_de_Pago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247888" y="1728216"/>
            <a:ext cx="3264408" cy="372160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119872" y="5687568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Cobranzas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8119872" y="6016752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Morosidad, débitos rechazados y cobranza en efectivo, todo priorizado por caso.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JC ORGANIZADORES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Seguridad, alertas y marca personal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3520440" cy="397764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pic>
        <p:nvPicPr>
          <p:cNvPr id="5" name="Image 0" descr="/mnt/user-data/uploads/Configuración_de_Segurida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68096" y="1728216"/>
            <a:ext cx="3264408" cy="37216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5687568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40080" y="6016752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Biometría, verificación en dos pasos y control de sesiones activas por dispositivo.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379976" y="1600200"/>
            <a:ext cx="3520440" cy="397764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pic>
        <p:nvPicPr>
          <p:cNvPr id="9" name="Image 1" descr="/mnt/user-data/uploads/Configuración_de_Notificaciones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507992" y="1728216"/>
            <a:ext cx="3264408" cy="372160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379976" y="5687568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Notificaciones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4379976" y="6016752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configurables por cartera, cobranzas y siniestros, push o por correo.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8119872" y="1600200"/>
            <a:ext cx="3520440" cy="397764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pic>
        <p:nvPicPr>
          <p:cNvPr id="13" name="Image 2" descr="/mnt/user-data/uploads/Configuración_de_Firma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247888" y="1728216"/>
            <a:ext cx="3264408" cy="372160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119872" y="5687568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Firma Digital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8119872" y="6016752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Firma personalizada del productor para validar documentos legales y pólizas.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32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LA DESARROLLAMOS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 responde a los dolores del PAS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10908792" cy="1234440"/>
          </a:xfrm>
          <a:prstGeom prst="roundRect">
            <a:avLst>
              <a:gd name="adj" fmla="val 5926"/>
            </a:avLst>
          </a:prstGeom>
          <a:solidFill>
            <a:srgbClr val="1B3A5C"/>
          </a:solidFill>
          <a:ln/>
        </p:spPr>
      </p:sp>
      <p:sp>
        <p:nvSpPr>
          <p:cNvPr id="5" name="Shape 3"/>
          <p:cNvSpPr/>
          <p:nvPr/>
        </p:nvSpPr>
        <p:spPr>
          <a:xfrm>
            <a:off x="896112" y="2167128"/>
            <a:ext cx="640080" cy="640080"/>
          </a:xfrm>
          <a:prstGeom prst="ellipse">
            <a:avLst/>
          </a:prstGeom>
          <a:solidFill>
            <a:srgbClr val="2A4A6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9322" y="2250338"/>
            <a:ext cx="473659" cy="47365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2039112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D9A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administrativa manual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080760" y="2313432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9" name="Shape 6"/>
          <p:cNvSpPr/>
          <p:nvPr/>
        </p:nvSpPr>
        <p:spPr>
          <a:xfrm>
            <a:off x="6080760" y="2313432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8309" y="2360981"/>
            <a:ext cx="270662" cy="27066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629400" y="2039112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Pólizas, clientes y cobranzas centralizados en una sola app.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640080" y="3291840"/>
            <a:ext cx="10908792" cy="1234440"/>
          </a:xfrm>
          <a:prstGeom prst="roundRect">
            <a:avLst>
              <a:gd name="adj" fmla="val 5926"/>
            </a:avLst>
          </a:prstGeom>
          <a:solidFill>
            <a:srgbClr val="1B3A5C"/>
          </a:solidFill>
          <a:ln/>
        </p:spPr>
      </p:sp>
      <p:sp>
        <p:nvSpPr>
          <p:cNvPr id="13" name="Shape 9"/>
          <p:cNvSpPr/>
          <p:nvPr/>
        </p:nvSpPr>
        <p:spPr>
          <a:xfrm>
            <a:off x="896112" y="3584448"/>
            <a:ext cx="640080" cy="640080"/>
          </a:xfrm>
          <a:prstGeom prst="ellipse">
            <a:avLst/>
          </a:prstGeom>
          <a:solidFill>
            <a:srgbClr val="2A4A6E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9322" y="3667658"/>
            <a:ext cx="473659" cy="47365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737360" y="3456432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D9A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Pérdida de tiempo entre portales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6080760" y="3730752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7" name="Shape 12"/>
          <p:cNvSpPr/>
          <p:nvPr/>
        </p:nvSpPr>
        <p:spPr>
          <a:xfrm>
            <a:off x="6080760" y="3730752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8309" y="3778301"/>
            <a:ext cx="270662" cy="27066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629400" y="3456432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el ciclo del cliente (llamar, WhatsApp, historial) a un toque.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640080" y="4709160"/>
            <a:ext cx="10908792" cy="1234440"/>
          </a:xfrm>
          <a:prstGeom prst="roundRect">
            <a:avLst>
              <a:gd name="adj" fmla="val 5926"/>
            </a:avLst>
          </a:prstGeom>
          <a:solidFill>
            <a:srgbClr val="1B3A5C"/>
          </a:solidFill>
          <a:ln/>
        </p:spPr>
      </p:sp>
      <p:sp>
        <p:nvSpPr>
          <p:cNvPr id="21" name="Shape 15"/>
          <p:cNvSpPr/>
          <p:nvPr/>
        </p:nvSpPr>
        <p:spPr>
          <a:xfrm>
            <a:off x="896112" y="5001768"/>
            <a:ext cx="640080" cy="640080"/>
          </a:xfrm>
          <a:prstGeom prst="ellipse">
            <a:avLst/>
          </a:prstGeom>
          <a:solidFill>
            <a:srgbClr val="2A4A6E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9322" y="5084978"/>
            <a:ext cx="473659" cy="473659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737360" y="4873752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D9A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Presión normativa y de seguridad</a:t>
            </a:r>
            <a:endParaRPr lang="en-US" sz="1400" dirty="0"/>
          </a:p>
        </p:txBody>
      </p:sp>
      <p:sp>
        <p:nvSpPr>
          <p:cNvPr id="24" name="Shape 17"/>
          <p:cNvSpPr/>
          <p:nvPr/>
        </p:nvSpPr>
        <p:spPr>
          <a:xfrm>
            <a:off x="6080760" y="5148072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5" name="Shape 18"/>
          <p:cNvSpPr/>
          <p:nvPr/>
        </p:nvSpPr>
        <p:spPr>
          <a:xfrm>
            <a:off x="6080760" y="5148072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28309" y="5195621"/>
            <a:ext cx="270662" cy="270662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6629400" y="4873752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Firma digital, biometría y verificación en dos pasos integradas.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32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EN EL NEGOCIO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¿Vale la pena la inversión?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520440" cy="2331720"/>
          </a:xfrm>
          <a:prstGeom prst="roundRect">
            <a:avLst>
              <a:gd name="adj" fmla="val 3529"/>
            </a:avLst>
          </a:prstGeom>
          <a:solidFill>
            <a:srgbClr val="1B3A5C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1965960"/>
            <a:ext cx="594360" cy="59436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1667" y="2043227"/>
            <a:ext cx="439826" cy="43982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265176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60%</a:t>
            </a:r>
            <a:endParaRPr lang="en-US" sz="2700" dirty="0"/>
          </a:p>
        </p:txBody>
      </p:sp>
      <p:sp>
        <p:nvSpPr>
          <p:cNvPr id="8" name="Text 5"/>
          <p:cNvSpPr/>
          <p:nvPr/>
        </p:nvSpPr>
        <p:spPr>
          <a:xfrm>
            <a:off x="914400" y="324612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7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Reducción en horas de carga administrativa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79976" y="1691640"/>
            <a:ext cx="3520440" cy="2331720"/>
          </a:xfrm>
          <a:prstGeom prst="roundRect">
            <a:avLst>
              <a:gd name="adj" fmla="val 3529"/>
            </a:avLst>
          </a:prstGeom>
          <a:solidFill>
            <a:srgbClr val="1B3A5C"/>
          </a:solidFill>
          <a:ln/>
        </p:spPr>
      </p:sp>
      <p:sp>
        <p:nvSpPr>
          <p:cNvPr id="10" name="Shape 7"/>
          <p:cNvSpPr/>
          <p:nvPr/>
        </p:nvSpPr>
        <p:spPr>
          <a:xfrm>
            <a:off x="4654296" y="1965960"/>
            <a:ext cx="594360" cy="59436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1563" y="2043227"/>
            <a:ext cx="439826" cy="43982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54296" y="265176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 Retención</a:t>
            </a:r>
            <a:endParaRPr lang="en-US" sz="2700" dirty="0"/>
          </a:p>
        </p:txBody>
      </p:sp>
      <p:sp>
        <p:nvSpPr>
          <p:cNvPr id="13" name="Text 9"/>
          <p:cNvSpPr/>
          <p:nvPr/>
        </p:nvSpPr>
        <p:spPr>
          <a:xfrm>
            <a:off x="4654296" y="324612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7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automáticas de renovación evitan la caída de pólizas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119872" y="1691640"/>
            <a:ext cx="3520440" cy="2331720"/>
          </a:xfrm>
          <a:prstGeom prst="roundRect">
            <a:avLst>
              <a:gd name="adj" fmla="val 3529"/>
            </a:avLst>
          </a:prstGeom>
          <a:solidFill>
            <a:srgbClr val="1B3A5C"/>
          </a:solidFill>
          <a:ln/>
        </p:spPr>
      </p:sp>
      <p:sp>
        <p:nvSpPr>
          <p:cNvPr id="15" name="Shape 11"/>
          <p:cNvSpPr/>
          <p:nvPr/>
        </p:nvSpPr>
        <p:spPr>
          <a:xfrm>
            <a:off x="8394192" y="1965960"/>
            <a:ext cx="594360" cy="59436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1459" y="2043227"/>
            <a:ext cx="439826" cy="43982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94192" y="265176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Multas</a:t>
            </a:r>
            <a:endParaRPr lang="en-US" sz="2700" dirty="0"/>
          </a:p>
        </p:txBody>
      </p:sp>
      <p:sp>
        <p:nvSpPr>
          <p:cNvPr id="18" name="Text 13"/>
          <p:cNvSpPr/>
          <p:nvPr/>
        </p:nvSpPr>
        <p:spPr>
          <a:xfrm>
            <a:off x="8394192" y="324612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7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Tranquilidad absoluta ante inspecciones de la SSN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40080" y="4251960"/>
            <a:ext cx="10908792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20" name="Text 15"/>
          <p:cNvSpPr/>
          <p:nvPr/>
        </p:nvSpPr>
        <p:spPr>
          <a:xfrm>
            <a:off x="914400" y="43891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Facturación proyectada al liberar tiempo comercial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914400" y="4754880"/>
          <a:ext cx="10332720" cy="1554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32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011680"/>
            <a:ext cx="5486400" cy="5486400"/>
          </a:xfrm>
          <a:prstGeom prst="ellipse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5943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HOJA DE RUTA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89611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Próximos pasos para elegir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22960" y="1874520"/>
            <a:ext cx="594360" cy="5943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8745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" y="2606040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Auditar la cartera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822960" y="3035808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7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Cuántos clientes y cuántas compañías principales usás.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89120" y="1874520"/>
            <a:ext cx="594360" cy="5943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4389120" y="18745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389120" y="2606040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Pedir demos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4389120" y="3035808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7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Solicitar accesos de prueba a AdminSE e Insurhub/Nekül para ver la interfaz.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955280" y="1874520"/>
            <a:ext cx="594360" cy="5943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7955280" y="18745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7955280" y="2606040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Evaluar presupuesto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7955280" y="3035808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7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Comparar el costo mensual contra las horas de trabajo que vas a ahorrar.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22960" y="4343400"/>
            <a:ext cx="10515600" cy="1325880"/>
          </a:xfrm>
          <a:prstGeom prst="roundRect">
            <a:avLst>
              <a:gd name="adj" fmla="val 5517"/>
            </a:avLst>
          </a:prstGeom>
          <a:solidFill>
            <a:srgbClr val="1B3A5C"/>
          </a:solidFill>
          <a:ln/>
        </p:spPr>
      </p:sp>
      <p:sp>
        <p:nvSpPr>
          <p:cNvPr id="18" name="Shape 16"/>
          <p:cNvSpPr/>
          <p:nvPr/>
        </p:nvSpPr>
        <p:spPr>
          <a:xfrm>
            <a:off x="1097280" y="4626864"/>
            <a:ext cx="548640" cy="54864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8603" y="4698187"/>
            <a:ext cx="405994" cy="405994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874520" y="4480560"/>
            <a:ext cx="9235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“El software no es un gasto, es la estructura que nos va a permitir duplicar la cartera sin colapsar en el intento.”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822960" y="59893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¿Dudas o comentarios?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Transformación Digital para Productores de Seguros</dc:title>
  <dc:subject>PptxGenJS Presentation</dc:subject>
  <dc:creator>Katrix</dc:creator>
  <cp:lastModifiedBy>Katrix</cp:lastModifiedBy>
  <cp:revision>1</cp:revision>
  <dcterms:created xsi:type="dcterms:W3CDTF">2026-07-02T01:17:20Z</dcterms:created>
  <dcterms:modified xsi:type="dcterms:W3CDTF">2026-07-02T01:17:20Z</dcterms:modified>
</cp:coreProperties>
</file>